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
<Relationships xmlns="http://schemas.openxmlformats.org/package/2006/relationships">
  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  <Relationship Id="rId1" Type="http://schemas.openxmlformats.org/officeDocument/2006/relationships/slideMaster" Target="slideMasters/slideMaster1.xml"/>
    <Relationship Id="rId2" Type="http://schemas.openxmlformats.org/officeDocument/2006/relationships/slide" Target="slides/slide1.xml"/>
    <Relationship Id="rId3" Type="http://schemas.openxmlformats.org/officeDocument/2006/relationships/slide" Target="slides/slide2.xml"/>
    <Relationship Id="rId4" Type="http://schemas.openxmlformats.org/officeDocument/2006/relationships/slide" Target="slides/slide3.xml"/>
    <Relationship Id="rId5" Type="http://schemas.openxmlformats.org/officeDocument/2006/relationships/slide" Target="slides/slide4.xml"/>
    <Relationship Id="rId6" Type="http://schemas.openxmlformats.org/officeDocument/2006/relationships/slide" Target="slides/slide5.xml"/>
    <Relationship Id="rId7" Type="http://schemas.openxmlformats.org/officeDocument/2006/relationships/slide" Target="slides/slide6.xml"/>
    <Relationship Id="rId8" Type="http://schemas.openxmlformats.org/officeDocument/2006/relationships/slide" Target="slides/slide7.xml"/>
    <Relationship Id="rId9" Type="http://schemas.openxmlformats.org/officeDocument/2006/relationships/slide" Target="slides/slide8.xml"/>
    <Relationship Id="rId10" Type="http://schemas.openxmlformats.org/officeDocument/2006/relationships/slide" Target="slides/slide9.xml"/>
    <Relationship Id="rId11" Type="http://schemas.openxmlformats.org/officeDocument/2006/relationships/slide" Target="slides/slide10.xml"/>
</Relationships>
</file>

<file path=ppt/slideLayouts/_rels/slideLayout1.xml.rels><?xml version="1.0" encoding="UTF-8" standalone="yes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  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!-- Title Box -->
      <p:sp>
        <p:nvSpPr>
          <p:cNvPr id="2" name="Title"/>
          <p:cSpPr>
            <a:spLocks noGrp="1"/>
          </p:cSpPr>
          <p:nvPr>
            <p:ph type="ctrTitle"/>
          </p:nvPr>
        </p:nvSpPr>
        <p:spPr>
          <a:xfrm>
            <a:off x="685800" y="685800"/>
            <a:ext cx="7772400" cy="1143000"/>
          </a:xfrm>
        </p:spPr>
        <p:txBody>
          <a:bodyPr/>
          <a:lstStyle/>
          <a:p>
            <a:r>
              <a:rPr lang="id-ID" sz="3600" b="1">
                <a:solidFill>
                  <a:srgbClr val="0D6EFD"/>
                </a:solidFill>
              </a:rPr>
              <a:t>ULTIMATE SCHOOL SYSTEM</a:t>
            </a:r>
          </a:p>
        </p:txBody>
      </p:sp>
      <!-- Content Box -->
      <p:sp>
        <p:nvSpPr>
          <p:cNvPr id="3" name="Subtitle"/>
          <p:cSpPr>
            <a:spLocks noGrp="1"/>
          </p:cSpPr>
          <p:nvPr>
            <p:ph type="subTitle" idx="1"/>
          </p:nvPr>
        </p:nvSpPr>
        <p:spPr>
          <a:xfrm>
            <a:off x="685800" y="2057400"/>
            <a:ext cx="7772400" cy="4114800"/>
          </a:xfrm>
        </p:spPr>
        <p:txBody>
          <a:bodyPr/>
          <a:lstStyle/>
          <a:p>
            <a:r>
              <a:rPr lang="id-ID" sz="2000" i="1">
                <a:solidFill>
                  <a:srgbClr val="475569"/>
                </a:solidFill>
              </a:rPr>
              <a:t>Sistem Informasi Manajemen Sekolah Terpadu (SD, SMP, SMA, SMK)</a:t>
            </a:r>
          </a:p>
          <a:p>
            <a:pPr lvl="0"/>
            <a:r>
              <a:rPr lang="id-ID" sz="1800">
                <a:solidFill>
                  <a:srgbClr val="1E293B"/>
                </a:solidFill>
              </a:rPr>
              <a:t>• Solusi Digitalisasi Ekosistem Pendidikan Generasi Terbaru</a:t>
            </a:r>
          </a:p>
          <a:p>
            <a:pPr lvl="0"/>
            <a:r>
              <a:rPr lang="id-ID" sz="1800">
                <a:solidFill>
                  <a:srgbClr val="1E293B"/>
                </a:solidFill>
              </a:rPr>
              <a:t>• Integrasi Website Publik, Safe Exam CBT, E-Raport, &amp; Keuangan</a:t>
            </a:r>
          </a:p>
          <a:p>
            <a:pPr lvl="0"/>
            <a:r>
              <a:rPr lang="id-ID" sz="1800">
                <a:solidFill>
                  <a:srgbClr val="1E293B"/>
                </a:solidFill>
              </a:rPr>
              <a:t>• Diakses Bebas dari Komputer, Tablet, &amp; Smartphone (iOS/Android)</a:t>
            </a:r>
          </a:p>
          <a:p>
            <a:pPr lvl="0"/>
            <a:r>
              <a:rPr lang="id-ID" sz="1800">
                <a:solidFill>
                  <a:srgbClr val="1E293B"/>
                </a:solidFill>
              </a:rPr>
              <a:t>• Disusun oleh Tim Pengembang &amp; Konsultan IT Ultimate School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!-- Title Box -->
      <p:sp>
        <p:nvSpPr>
          <p:cNvPr id="2" name="Title"/>
          <p:cSpPr>
            <a:spLocks noGrp="1"/>
          </p:cSpPr>
          <p:nvPr>
            <p:ph type="ctrTitle"/>
          </p:nvPr>
        </p:nvSpPr>
        <p:spPr>
          <a:xfrm>
            <a:off x="685800" y="685800"/>
            <a:ext cx="7772400" cy="1143000"/>
          </a:xfrm>
        </p:spPr>
        <p:txBody>
          <a:bodyPr/>
          <a:lstStyle/>
          <a:p>
            <a:r>
              <a:rPr lang="id-ID" sz="3600" b="1">
                <a:solidFill>
                  <a:srgbClr val="0D6EFD"/>
                </a:solidFill>
              </a:rPr>
              <a:t>Tantangan Digitalisasi Sekolah Saat Ini</a:t>
            </a:r>
          </a:p>
        </p:txBody>
      </p:sp>
      <!-- Content Box -->
      <p:sp>
        <p:nvSpPr>
          <p:cNvPr id="3" name="Subtitle"/>
          <p:cSpPr>
            <a:spLocks noGrp="1"/>
          </p:cSpPr>
          <p:nvPr>
            <p:ph type="subTitle" idx="1"/>
          </p:nvPr>
        </p:nvSpPr>
        <p:spPr>
          <a:xfrm>
            <a:off x="685800" y="2057400"/>
            <a:ext cx="7772400" cy="4114800"/>
          </a:xfrm>
        </p:spPr>
        <p:txBody>
          <a:bodyPr/>
          <a:lstStyle/>
          <a:p>
            <a:r>
              <a:rPr lang="id-ID" sz="2000" i="1">
                <a:solidFill>
                  <a:srgbClr val="475569"/>
                </a:solidFill>
              </a:rPr>
              <a:t>Kendala Operasional Manual di Instansi Pendidikan</a:t>
            </a:r>
          </a:p>
          <a:p>
            <a:pPr lvl="0"/>
            <a:r>
              <a:rPr lang="id-ID" sz="1800">
                <a:solidFill>
                  <a:srgbClr val="1E293B"/>
                </a:solidFill>
              </a:rPr>
              <a:t>• Administrasi Terpisah: Data siswa &amp; nilai tersimpan di spreadsheet terpisah.</a:t>
            </a:r>
          </a:p>
          <a:p>
            <a:pPr lvl="0"/>
            <a:r>
              <a:rPr lang="id-ID" sz="1800">
                <a:solidFill>
                  <a:srgbClr val="1E293B"/>
                </a:solidFill>
              </a:rPr>
              <a:t>• Tingginya Risiko Kecurangan Ujian: Ujian CBT biasa rawan kecurangan (buka tab lain).</a:t>
            </a:r>
          </a:p>
          <a:p>
            <a:pPr lvl="0"/>
            <a:r>
              <a:rPr lang="id-ID" sz="1800">
                <a:solidFill>
                  <a:srgbClr val="1E293B"/>
                </a:solidFill>
              </a:rPr>
              <a:t>• Proses Pembuatan Soal CBT Rumit: Guru terbebani input soal pilihan ganda satu per satu.</a:t>
            </a:r>
          </a:p>
          <a:p>
            <a:pPr lvl="0"/>
            <a:r>
              <a:rPr lang="id-ID" sz="1800">
                <a:solidFill>
                  <a:srgbClr val="1E293B"/>
                </a:solidFill>
              </a:rPr>
              <a:t>• Pengolahan Raport Kurikulum Merdeka: Perhitungan capaian kompetensi memakan waktu.</a:t>
            </a:r>
          </a:p>
          <a:p>
            <a:pPr lvl="0"/>
            <a:r>
              <a:rPr lang="id-ID" sz="1800">
                <a:solidFill>
                  <a:srgbClr val="1E293B"/>
                </a:solidFill>
              </a:rPr>
              <a:t>• Keamanan Cyber Rendah: Formulir PPDB &amp; Login rawan serangan bot &amp; spammer.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!-- Title Box -->
      <p:sp>
        <p:nvSpPr>
          <p:cNvPr id="2" name="Title"/>
          <p:cSpPr>
            <a:spLocks noGrp="1"/>
          </p:cSpPr>
          <p:nvPr>
            <p:ph type="ctrTitle"/>
          </p:nvPr>
        </p:nvSpPr>
        <p:spPr>
          <a:xfrm>
            <a:off x="685800" y="685800"/>
            <a:ext cx="7772400" cy="1143000"/>
          </a:xfrm>
        </p:spPr>
        <p:txBody>
          <a:bodyPr/>
          <a:lstStyle/>
          <a:p>
            <a:r>
              <a:rPr lang="id-ID" sz="3600" b="1">
                <a:solidFill>
                  <a:srgbClr val="0D6EFD"/>
                </a:solidFill>
              </a:rPr>
              <a:t>Arsitektur Single-System Multi-Jenjang</a:t>
            </a:r>
          </a:p>
        </p:txBody>
      </p:sp>
      <!-- Content Box -->
      <p:sp>
        <p:nvSpPr>
          <p:cNvPr id="3" name="Subtitle"/>
          <p:cSpPr>
            <a:spLocks noGrp="1"/>
          </p:cSpPr>
          <p:nvPr>
            <p:ph type="subTitle" idx="1"/>
          </p:nvPr>
        </p:nvSpPr>
        <p:spPr>
          <a:xfrm>
            <a:off x="685800" y="2057400"/>
            <a:ext cx="7772400" cy="4114800"/>
          </a:xfrm>
        </p:spPr>
        <p:txBody>
          <a:bodyPr/>
          <a:lstStyle/>
          <a:p>
            <a:r>
              <a:rPr lang="id-ID" sz="2000" i="1">
                <a:solidFill>
                  <a:srgbClr val="475569"/>
                </a:solidFill>
              </a:rPr>
              <a:t>1 Aplikasi untuk Pengelolaan Multi-Sekolah (SD, SMP, SMA, SMK)</a:t>
            </a:r>
          </a:p>
          <a:p>
            <a:pPr lvl="0"/>
            <a:r>
              <a:rPr lang="id-ID" sz="1800">
                <a:solidFill>
                  <a:srgbClr val="1E293B"/>
                </a:solidFill>
              </a:rPr>
              <a:t>• Dynamic Switch Mode: Berpindah antara jenjang SD, SMP, SMA, SMK, atau ALL.</a:t>
            </a:r>
          </a:p>
          <a:p>
            <a:pPr lvl="0"/>
            <a:r>
              <a:rPr lang="id-ID" sz="1800">
                <a:solidFill>
                  <a:srgbClr val="1E293B"/>
                </a:solidFill>
              </a:rPr>
              <a:t>• NPSN &amp; Kepala Sekolah Otomatis: NPSN dan TTD Kepsek menyesuaikan jenjang aktif.</a:t>
            </a:r>
          </a:p>
          <a:p>
            <a:pPr lvl="0"/>
            <a:r>
              <a:rPr lang="id-ID" sz="1800">
                <a:solidFill>
                  <a:srgbClr val="1E293B"/>
                </a:solidFill>
              </a:rPr>
              <a:t>• Role Access Control (ACL 7 Level): Super Admin, Admin, Kepsek, Guru, Wali Kelas, Murid, Orang Tua.</a:t>
            </a:r>
          </a:p>
          <a:p>
            <a:pPr lvl="0"/>
            <a:r>
              <a:rPr lang="id-ID" sz="1800">
                <a:solidFill>
                  <a:srgbClr val="1E293B"/>
                </a:solidFill>
              </a:rPr>
              <a:t>• Glassmorphism Responsive Aesthetics: Tampilan mewah, bersih, dan modern.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!-- Title Box -->
      <p:sp>
        <p:nvSpPr>
          <p:cNvPr id="2" name="Title"/>
          <p:cSpPr>
            <a:spLocks noGrp="1"/>
          </p:cSpPr>
          <p:nvPr>
            <p:ph type="ctrTitle"/>
          </p:nvPr>
        </p:nvSpPr>
        <p:spPr>
          <a:xfrm>
            <a:off x="685800" y="685800"/>
            <a:ext cx="7772400" cy="1143000"/>
          </a:xfrm>
        </p:spPr>
        <p:txBody>
          <a:bodyPr/>
          <a:lstStyle/>
          <a:p>
            <a:r>
              <a:rPr lang="id-ID" sz="3600" b="1">
                <a:solidFill>
                  <a:srgbClr val="0D6EFD"/>
                </a:solidFill>
              </a:rPr>
              <a:t>Website Public &amp; PPDB Online Real-Time</a:t>
            </a:r>
          </a:p>
        </p:txBody>
      </p:sp>
      <!-- Content Box -->
      <p:sp>
        <p:nvSpPr>
          <p:cNvPr id="3" name="Subtitle"/>
          <p:cSpPr>
            <a:spLocks noGrp="1"/>
          </p:cSpPr>
          <p:nvPr>
            <p:ph type="subTitle" idx="1"/>
          </p:nvPr>
        </p:nvSpPr>
        <p:spPr>
          <a:xfrm>
            <a:off x="685800" y="2057400"/>
            <a:ext cx="7772400" cy="4114800"/>
          </a:xfrm>
        </p:spPr>
        <p:txBody>
          <a:bodyPr/>
          <a:lstStyle/>
          <a:p>
            <a:r>
              <a:rPr lang="id-ID" sz="2000" i="1">
                <a:solidFill>
                  <a:srgbClr val="475569"/>
                </a:solidFill>
              </a:rPr>
              <a:t>Pintu Gerbang Informasi &amp; Pendaftaran Murid Baru Digital</a:t>
            </a:r>
          </a:p>
          <a:p>
            <a:pPr lvl="0"/>
            <a:r>
              <a:rPr lang="id-ID" sz="1800">
                <a:solidFill>
                  <a:srgbClr val="1E293B"/>
                </a:solidFill>
              </a:rPr>
              <a:t>• Company Profile Modern: Profil Sekolah, Visi-Misi, Fasilitas, &amp; Ekstrakurikuler.</a:t>
            </a:r>
          </a:p>
          <a:p>
            <a:pPr lvl="0"/>
            <a:r>
              <a:rPr lang="id-ID" sz="1800">
                <a:solidFill>
                  <a:srgbClr val="1E293B"/>
                </a:solidFill>
              </a:rPr>
              <a:t>• Formulir PPDB Online Integratif: Orang tua daftar online tanpa antre ke sekolah.</a:t>
            </a:r>
          </a:p>
          <a:p>
            <a:pPr lvl="0"/>
            <a:r>
              <a:rPr lang="id-ID" sz="1800">
                <a:solidFill>
                  <a:srgbClr val="1E293B"/>
                </a:solidFill>
              </a:rPr>
              <a:t>• Tracking Cek Status PPDB: Pencarian real-time status kelulusan dengan Nomor Pendaftaran.</a:t>
            </a:r>
          </a:p>
          <a:p>
            <a:pPr lvl="0"/>
            <a:r>
              <a:rPr lang="id-ID" sz="1800">
                <a:solidFill>
                  <a:srgbClr val="1E293B"/>
                </a:solidFill>
              </a:rPr>
              <a:t>• Proteksi Cloudflare Turnstile: Anti-bot CAPTCHA tanpa mengganggu kenyamanan pengguna.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!-- Title Box -->
      <p:sp>
        <p:nvSpPr>
          <p:cNvPr id="2" name="Title"/>
          <p:cSpPr>
            <a:spLocks noGrp="1"/>
          </p:cSpPr>
          <p:nvPr>
            <p:ph type="ctrTitle"/>
          </p:nvPr>
        </p:nvSpPr>
        <p:spPr>
          <a:xfrm>
            <a:off x="685800" y="685800"/>
            <a:ext cx="7772400" cy="1143000"/>
          </a:xfrm>
        </p:spPr>
        <p:txBody>
          <a:bodyPr/>
          <a:lstStyle/>
          <a:p>
            <a:r>
              <a:rPr lang="id-ID" sz="3600" b="1">
                <a:solidFill>
                  <a:srgbClr val="0D6EFD"/>
                </a:solidFill>
              </a:rPr>
              <a:t>Safe Exam Engine CBT Anti-Kecurangan</a:t>
            </a:r>
          </a:p>
        </p:txBody>
      </p:sp>
      <!-- Content Box -->
      <p:sp>
        <p:nvSpPr>
          <p:cNvPr id="3" name="Subtitle"/>
          <p:cSpPr>
            <a:spLocks noGrp="1"/>
          </p:cSpPr>
          <p:nvPr>
            <p:ph type="subTitle" idx="1"/>
          </p:nvPr>
        </p:nvSpPr>
        <p:spPr>
          <a:xfrm>
            <a:off x="685800" y="2057400"/>
            <a:ext cx="7772400" cy="4114800"/>
          </a:xfrm>
        </p:spPr>
        <p:txBody>
          <a:bodyPr/>
          <a:lstStyle/>
          <a:p>
            <a:r>
              <a:rPr lang="id-ID" sz="2000" i="1">
                <a:solidFill>
                  <a:srgbClr val="475569"/>
                </a:solidFill>
              </a:rPr>
              <a:t>Evaluasi Belajar Digital yang Jujur &amp; Terpercaya</a:t>
            </a:r>
          </a:p>
          <a:p>
            <a:pPr lvl="0"/>
            <a:r>
              <a:rPr lang="id-ID" sz="1800">
                <a:solidFill>
                  <a:srgbClr val="1E293B"/>
                </a:solidFill>
              </a:rPr>
              <a:t>• Kiosk Fullscreen Lockdown: Siswa wajib fullscreen sebelum pengerjaan soal dimulai.</a:t>
            </a:r>
          </a:p>
          <a:p>
            <a:pPr lvl="0"/>
            <a:r>
              <a:rPr lang="id-ID" sz="1800">
                <a:solidFill>
                  <a:srgbClr val="1E293B"/>
                </a:solidFill>
              </a:rPr>
              <a:t>• 3-Strike Violation Siren: Rekam &amp; beri peringatan jika siswa coba buka tab lain / Alt+Tab.</a:t>
            </a:r>
          </a:p>
          <a:p>
            <a:pPr lvl="0"/>
            <a:r>
              <a:rPr lang="id-ID" sz="1800">
                <a:solidFill>
                  <a:srgbClr val="1E293B"/>
                </a:solidFill>
              </a:rPr>
              <a:t>• Peta Navigasi Soal 5-Kolom: Indikator warna status soal (Hijau/Putih) real-time.</a:t>
            </a:r>
          </a:p>
          <a:p>
            <a:pPr lvl="0"/>
            <a:r>
              <a:rPr lang="id-ID" sz="1800">
                <a:solidFill>
                  <a:srgbClr val="1E293B"/>
                </a:solidFill>
              </a:rPr>
              <a:t>• Auto-Save Background Engine: Jawaban siswa tersimpan otomatis tanpa takut mati lampu.</a:t>
            </a:r>
          </a:p>
          <a:p>
            <a:pPr lvl="0"/>
            <a:r>
              <a:rPr lang="id-ID" sz="1800">
                <a:solidFill>
                  <a:srgbClr val="1E293B"/>
                </a:solidFill>
              </a:rPr>
              <a:t>• Auto Grading Standar KKM: Penilaian otomatis (Skor ≥ 60 = LULUS) dengan statistik instan.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!-- Title Box -->
      <p:sp>
        <p:nvSpPr>
          <p:cNvPr id="2" name="Title"/>
          <p:cSpPr>
            <a:spLocks noGrp="1"/>
          </p:cSpPr>
          <p:nvPr>
            <p:ph type="ctrTitle"/>
          </p:nvPr>
        </p:nvSpPr>
        <p:spPr>
          <a:xfrm>
            <a:off x="685800" y="685800"/>
            <a:ext cx="7772400" cy="1143000"/>
          </a:xfrm>
        </p:spPr>
        <p:txBody>
          <a:bodyPr/>
          <a:lstStyle/>
          <a:p>
            <a:r>
              <a:rPr lang="id-ID" sz="3600" b="1">
                <a:solidFill>
                  <a:srgbClr val="0D6EFD"/>
                </a:solidFill>
              </a:rPr>
              <a:t>Fast Copy-Paste Question Parser 1-Click</a:t>
            </a:r>
          </a:p>
        </p:txBody>
      </p:sp>
      <!-- Content Box -->
      <p:sp>
        <p:nvSpPr>
          <p:cNvPr id="3" name="Subtitle"/>
          <p:cSpPr>
            <a:spLocks noGrp="1"/>
          </p:cSpPr>
          <p:nvPr>
            <p:ph type="subTitle" idx="1"/>
          </p:nvPr>
        </p:nvSpPr>
        <p:spPr>
          <a:xfrm>
            <a:off x="685800" y="2057400"/>
            <a:ext cx="7772400" cy="4114800"/>
          </a:xfrm>
        </p:spPr>
        <p:txBody>
          <a:bodyPr/>
          <a:lstStyle/>
          <a:p>
            <a:r>
              <a:rPr lang="id-ID" sz="2000" i="1">
                <a:solidFill>
                  <a:srgbClr val="475569"/>
                </a:solidFill>
              </a:rPr>
              <a:t>Fitur Unggulan Pembuatan Soal CBT Serba Cepat</a:t>
            </a:r>
          </a:p>
          <a:p>
            <a:pPr lvl="0"/>
            <a:r>
              <a:rPr lang="id-ID" sz="1800">
                <a:solidFill>
                  <a:srgbClr val="1E293B"/>
                </a:solidFill>
              </a:rPr>
              <a:t>• Import Massal dari Word / PDF: Guru cukup copy-paste naskah soal langsung ke sistem.</a:t>
            </a:r>
          </a:p>
          <a:p>
            <a:pPr lvl="0"/>
            <a:r>
              <a:rPr lang="id-ID" sz="1800">
                <a:solidFill>
                  <a:srgbClr val="1E293B"/>
                </a:solidFill>
              </a:rPr>
              <a:t>• Auto Parser Cerdas: Mendeteksi wacana bacaan, nomor soal, opsi A/B/C/D/E, &amp; kunci jawaban.</a:t>
            </a:r>
          </a:p>
          <a:p>
            <a:pPr lvl="0"/>
            <a:r>
              <a:rPr lang="id-ID" sz="1800">
                <a:solidFill>
                  <a:srgbClr val="1E293B"/>
                </a:solidFill>
              </a:rPr>
              <a:t>• Template Copy-Paste Ready: Menyediakan template salinan teks 1-click untuk kemudahan guru.</a:t>
            </a:r>
          </a:p>
          <a:p>
            <a:pPr lvl="0"/>
            <a:r>
              <a:rPr lang="id-ID" sz="1800">
                <a:solidFill>
                  <a:srgbClr val="1E293B"/>
                </a:solidFill>
              </a:rPr>
              <a:t>• Mendukung Gambar &amp; Puisi: Fleksibel untuk soal Bahasa, IPA, Matematika, dan Umum.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!-- Title Box -->
      <p:sp>
        <p:nvSpPr>
          <p:cNvPr id="2" name="Title"/>
          <p:cSpPr>
            <a:spLocks noGrp="1"/>
          </p:cSpPr>
          <p:nvPr>
            <p:ph type="ctrTitle"/>
          </p:nvPr>
        </p:nvSpPr>
        <p:spPr>
          <a:xfrm>
            <a:off x="685800" y="685800"/>
            <a:ext cx="7772400" cy="1143000"/>
          </a:xfrm>
        </p:spPr>
        <p:txBody>
          <a:bodyPr/>
          <a:lstStyle/>
          <a:p>
            <a:r>
              <a:rPr lang="id-ID" sz="3600" b="1">
                <a:solidFill>
                  <a:srgbClr val="0D6EFD"/>
                </a:solidFill>
              </a:rPr>
              <a:t>Manajemen Akademik &amp; E-Raport Merdeka</a:t>
            </a:r>
          </a:p>
        </p:txBody>
      </p:sp>
      <!-- Content Box -->
      <p:sp>
        <p:nvSpPr>
          <p:cNvPr id="3" name="Subtitle"/>
          <p:cSpPr>
            <a:spLocks noGrp="1"/>
          </p:cSpPr>
          <p:nvPr>
            <p:ph type="subTitle" idx="1"/>
          </p:nvPr>
        </p:nvSpPr>
        <p:spPr>
          <a:xfrm>
            <a:off x="685800" y="2057400"/>
            <a:ext cx="7772400" cy="4114800"/>
          </a:xfrm>
        </p:spPr>
        <p:txBody>
          <a:bodyPr/>
          <a:lstStyle/>
          <a:p>
            <a:r>
              <a:rPr lang="id-ID" sz="2000" i="1">
                <a:solidFill>
                  <a:srgbClr val="475569"/>
                </a:solidFill>
              </a:rPr>
              <a:t>Olah Nilai &amp; Cetak Raport Resmi Tanpa Hambatan</a:t>
            </a:r>
          </a:p>
          <a:p>
            <a:pPr lvl="0"/>
            <a:r>
              <a:rPr lang="id-ID" sz="1800">
                <a:solidFill>
                  <a:srgbClr val="1E293B"/>
                </a:solidFill>
              </a:rPr>
              <a:t>• Pengolahan Nilai Lengkap: Nilai Harian, Tugas, UTS, UAS, &amp; Bobot Akademik.</a:t>
            </a:r>
          </a:p>
          <a:p>
            <a:pPr lvl="0"/>
            <a:r>
              <a:rPr lang="id-ID" sz="1800">
                <a:solidFill>
                  <a:srgbClr val="1E293B"/>
                </a:solidFill>
              </a:rPr>
              <a:t>• Generasi E-Raport PDF Resmi:Format Raport Kurikulum Merdeka siap cetak.</a:t>
            </a:r>
          </a:p>
          <a:p>
            <a:pPr lvl="0"/>
            <a:r>
              <a:rPr lang="id-ID" sz="1800">
                <a:solidFill>
                  <a:srgbClr val="1E293B"/>
                </a:solidFill>
              </a:rPr>
              <a:t>• Sistem Pengumpulan Tugas: Buat penugasan online dengan deadline &amp; unggah berkas.</a:t>
            </a:r>
          </a:p>
          <a:p>
            <a:pPr lvl="0"/>
            <a:r>
              <a:rPr lang="id-ID" sz="1800">
                <a:solidFill>
                  <a:srgbClr val="1E293B"/>
                </a:solidFill>
              </a:rPr>
              <a:t>• Absensi Digital Murid &amp; Guru: Rekapitulasi kehadiran harian yang presisi.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!-- Title Box -->
      <p:sp>
        <p:nvSpPr>
          <p:cNvPr id="2" name="Title"/>
          <p:cSpPr>
            <a:spLocks noGrp="1"/>
          </p:cSpPr>
          <p:nvPr>
            <p:ph type="ctrTitle"/>
          </p:nvPr>
        </p:nvSpPr>
        <p:spPr>
          <a:xfrm>
            <a:off x="685800" y="685800"/>
            <a:ext cx="7772400" cy="1143000"/>
          </a:xfrm>
        </p:spPr>
        <p:txBody>
          <a:bodyPr/>
          <a:lstStyle/>
          <a:p>
            <a:r>
              <a:rPr lang="id-ID" sz="3600" b="1">
                <a:solidFill>
                  <a:srgbClr val="0D6EFD"/>
                </a:solidFill>
              </a:rPr>
              <a:t>Keuangan SPP &amp; Tabungan Digital Siswa</a:t>
            </a:r>
          </a:p>
        </p:txBody>
      </p:sp>
      <!-- Content Box -->
      <p:sp>
        <p:nvSpPr>
          <p:cNvPr id="3" name="Subtitle"/>
          <p:cSpPr>
            <a:spLocks noGrp="1"/>
          </p:cSpPr>
          <p:nvPr>
            <p:ph type="subTitle" idx="1"/>
          </p:nvPr>
        </p:nvSpPr>
        <p:spPr>
          <a:xfrm>
            <a:off x="685800" y="2057400"/>
            <a:ext cx="7772400" cy="4114800"/>
          </a:xfrm>
        </p:spPr>
        <p:txBody>
          <a:bodyPr/>
          <a:lstStyle/>
          <a:p>
            <a:r>
              <a:rPr lang="id-ID" sz="2000" i="1">
                <a:solidFill>
                  <a:srgbClr val="475569"/>
                </a:solidFill>
              </a:rPr>
              <a:t>Transparansi &amp; Efisiensi Keuangan Sekolah</a:t>
            </a:r>
          </a:p>
          <a:p>
            <a:pPr lvl="0"/>
            <a:r>
              <a:rPr lang="id-ID" sz="1800">
                <a:solidFill>
                  <a:srgbClr val="1E293B"/>
                </a:solidFill>
              </a:rPr>
              <a:t>• Pembukuan SPP &amp; Biaya Pendidikan: Monitoring tunggakan &amp; pembayaran lulus.</a:t>
            </a:r>
          </a:p>
          <a:p>
            <a:pPr lvl="0"/>
            <a:r>
              <a:rPr lang="id-ID" sz="1800">
                <a:solidFill>
                  <a:srgbClr val="1E293B"/>
                </a:solidFill>
              </a:rPr>
              <a:t>• Cetak Kwitansi Pembayaran Resmi: Bukti pembayaran sah dengan nomor registrasi.</a:t>
            </a:r>
          </a:p>
          <a:p>
            <a:pPr lvl="0"/>
            <a:r>
              <a:rPr lang="id-ID" sz="1800">
                <a:solidFill>
                  <a:srgbClr val="1E293B"/>
                </a:solidFill>
              </a:rPr>
              <a:t>• Buku Tabungan Digital Murid: Modul Setor, Tarik, &amp; Rekap Saldo Tabungan Siswa.</a:t>
            </a:r>
          </a:p>
          <a:p>
            <a:pPr lvl="0"/>
            <a:r>
              <a:rPr lang="id-ID" sz="1800">
                <a:solidFill>
                  <a:srgbClr val="1E293B"/>
                </a:solidFill>
              </a:rPr>
              <a:t>• Laporan Keuangan Real-Time: Rekapitulasi kas yang transparan untuk bendahara &amp; yayasan.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!-- Title Box -->
      <p:sp>
        <p:nvSpPr>
          <p:cNvPr id="2" name="Title"/>
          <p:cSpPr>
            <a:spLocks noGrp="1"/>
          </p:cSpPr>
          <p:nvPr>
            <p:ph type="ctrTitle"/>
          </p:nvPr>
        </p:nvSpPr>
        <p:spPr>
          <a:xfrm>
            <a:off x="685800" y="685800"/>
            <a:ext cx="7772400" cy="1143000"/>
          </a:xfrm>
        </p:spPr>
        <p:txBody>
          <a:bodyPr/>
          <a:lstStyle/>
          <a:p>
            <a:r>
              <a:rPr lang="id-ID" sz="3600" b="1">
                <a:solidFill>
                  <a:srgbClr val="0D6EFD"/>
                </a:solidFill>
              </a:rPr>
              <a:t>Skema Investasi &amp; Paket Layanan</a:t>
            </a:r>
          </a:p>
        </p:txBody>
      </p:sp>
      <!-- Content Box -->
      <p:sp>
        <p:nvSpPr>
          <p:cNvPr id="3" name="Subtitle"/>
          <p:cSpPr>
            <a:spLocks noGrp="1"/>
          </p:cSpPr>
          <p:nvPr>
            <p:ph type="subTitle" idx="1"/>
          </p:nvPr>
        </p:nvSpPr>
        <p:spPr>
          <a:xfrm>
            <a:off x="685800" y="2057400"/>
            <a:ext cx="7772400" cy="4114800"/>
          </a:xfrm>
        </p:spPr>
        <p:txBody>
          <a:bodyPr/>
          <a:lstStyle/>
          <a:p>
            <a:r>
              <a:rPr lang="id-ID" sz="2000" i="1">
                <a:solidFill>
                  <a:srgbClr val="475569"/>
                </a:solidFill>
              </a:rPr>
              <a:t>Penawaran Spesial Implementasi Sistem Informasi Sekolah</a:t>
            </a:r>
          </a:p>
          <a:p>
            <a:pPr lvl="0"/>
            <a:r>
              <a:rPr lang="id-ID" sz="1800">
                <a:solidFill>
                  <a:srgbClr val="1E293B"/>
                </a:solidFill>
              </a:rPr>
              <a:t>• PAKET PLATINUM (Multi-Jenjang All-In): Rp 15.000.000,- (Full Multi-Jenjang SD+SMP+SMA/SMK, VPS Server 1 Thn, Domain, Training, Support 1 Thn).</a:t>
            </a:r>
          </a:p>
          <a:p>
            <a:pPr lvl="0"/>
            <a:r>
              <a:rPr lang="id-ID" sz="1800">
                <a:solidFill>
                  <a:srgbClr val="1E293B"/>
                </a:solidFill>
              </a:rPr>
              <a:t>• PAKET STANDARD (Single-Jenjang): Rp 9.500.000,- (Single-Jenjang, Cloud Server 1 Thn, Domain, Training, Support 6 Bln).</a:t>
            </a:r>
          </a:p>
          <a:p>
            <a:pPr lvl="0"/>
            <a:r>
              <a:rPr lang="id-ID" sz="1800">
                <a:solidFill>
                  <a:srgbClr val="1E293B"/>
                </a:solidFill>
              </a:rPr>
              <a:t>• Biaya Renewal &amp; Server Tahun Ke-2: Sangat terjangkau mulai Rp 2.000.000,- / Tahun.</a:t>
            </a:r>
          </a:p>
          <a:p>
            <a:pPr lvl="0"/>
            <a:r>
              <a:rPr lang="id-ID" sz="1800">
                <a:solidFill>
                  <a:srgbClr val="1E293B"/>
                </a:solidFill>
              </a:rPr>
              <a:t>• Garansi Bebas Bug: Perbaikan kendala gratis selama masa garansi.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!-- Title Box -->
      <p:sp>
        <p:nvSpPr>
          <p:cNvPr id="2" name="Title"/>
          <p:cSpPr>
            <a:spLocks noGrp="1"/>
          </p:cSpPr>
          <p:nvPr>
            <p:ph type="ctrTitle"/>
          </p:nvPr>
        </p:nvSpPr>
        <p:spPr>
          <a:xfrm>
            <a:off x="685800" y="685800"/>
            <a:ext cx="7772400" cy="1143000"/>
          </a:xfrm>
        </p:spPr>
        <p:txBody>
          <a:bodyPr/>
          <a:lstStyle/>
          <a:p>
            <a:r>
              <a:rPr lang="id-ID" sz="3600" b="1">
                <a:solidFill>
                  <a:srgbClr val="0D6EFD"/>
                </a:solidFill>
              </a:rPr>
              <a:t>Timeline Implementasi &amp; Langkah Selanjutnya</a:t>
            </a:r>
          </a:p>
        </p:txBody>
      </p:sp>
      <!-- Content Box -->
      <p:sp>
        <p:nvSpPr>
          <p:cNvPr id="3" name="Subtitle"/>
          <p:cSpPr>
            <a:spLocks noGrp="1"/>
          </p:cSpPr>
          <p:nvPr>
            <p:ph type="subTitle" idx="1"/>
          </p:nvPr>
        </p:nvSpPr>
        <p:spPr>
          <a:xfrm>
            <a:off x="685800" y="2057400"/>
            <a:ext cx="7772400" cy="4114800"/>
          </a:xfrm>
        </p:spPr>
        <p:txBody>
          <a:bodyPr/>
          <a:lstStyle/>
          <a:p>
            <a:r>
              <a:rPr lang="id-ID" sz="2000" i="1">
                <a:solidFill>
                  <a:srgbClr val="475569"/>
                </a:solidFill>
              </a:rPr>
              <a:t>Solusi Cepat 14 Hari Kerja Menuju Sekolah Digital</a:t>
            </a:r>
          </a:p>
          <a:p>
            <a:pPr lvl="0"/>
            <a:r>
              <a:rPr lang="id-ID" sz="1800">
                <a:solidFill>
                  <a:srgbClr val="1E293B"/>
                </a:solidFill>
              </a:rPr>
              <a:t>• Hari 1-3: Setup Cloud VPS Server, Domain Sekolah, &amp; Instalasi Sistem.</a:t>
            </a:r>
          </a:p>
          <a:p>
            <a:pPr lvl="0"/>
            <a:r>
              <a:rPr lang="id-ID" sz="1800">
                <a:solidFill>
                  <a:srgbClr val="1E293B"/>
                </a:solidFill>
              </a:rPr>
              <a:t>• Hari 4-7: Migrasi &amp; Import Data Awal (Siswa, Guru, Kelas, &amp; Mapel).</a:t>
            </a:r>
          </a:p>
          <a:p>
            <a:pPr lvl="0"/>
            <a:r>
              <a:rPr lang="id-ID" sz="1800">
                <a:solidFill>
                  <a:srgbClr val="1E293B"/>
                </a:solidFill>
              </a:rPr>
              <a:t>• Hari 8-11: Pelatihan (Training) Penggunaan Sistem untuk Guru &amp; Staff Admin.</a:t>
            </a:r>
          </a:p>
          <a:p>
            <a:pPr lvl="0"/>
            <a:r>
              <a:rPr lang="id-ID" sz="1800">
                <a:solidFill>
                  <a:srgbClr val="1E293B"/>
                </a:solidFill>
              </a:rPr>
              <a:t>• Hari 12-13: Simulasi Ujian CBT Safe Exam &amp; PPDB Online.</a:t>
            </a:r>
          </a:p>
          <a:p>
            <a:pPr lvl="0"/>
            <a:r>
              <a:rPr lang="id-ID" sz="1800">
                <a:solidFill>
                  <a:srgbClr val="1E293B"/>
                </a:solidFill>
              </a:rPr>
              <a:t>• Hari 14: Peluncuran Resmi (Go-Live System).</a:t>
            </a:r>
          </a:p>
          <a:p>
            <a:pPr lvl="0"/>
            <a:r>
              <a:rPr lang="id-ID" sz="1800">
                <a:solidFill>
                  <a:srgbClr val="1E293B"/>
                </a:solidFill>
              </a:rPr>
              <a:t>• Hubungi Kami untuk Jadwal Presentasi &amp; Demo System Live!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</a:majorFont>
      <a:minorFont>
        <a:latin typeface="Calibri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19050">
          <a:solidFill>
            <a:schemeClr val="phClr"/>
          </a:solidFill>
        </a:ln>
        <a:ln w="2857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